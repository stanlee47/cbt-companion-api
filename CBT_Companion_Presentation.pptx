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CBT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B5F6"/>
                </a:solidFill>
                <a:latin typeface="Calibri"/>
              </a:defRPr>
            </a:pPr>
            <a:r>
              <a:t>AI-Powered Cognitive Behavioral Therapy using Beck's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How we implemented evidence-based therapy in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What is Beck's CBT?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Developed by Dr. Aaron T. Beck (1960s) - the gold standard of talk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Core idea: It's not events that upset us, it's how we THINK about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Therapist helps patient identify distorted thoughts and replace them with balanced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Uses structured sessions with standardized tools (BDI-II, Thought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Backed by 50+ years of clinical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80"/>
            <a:ext cx="4846320" cy="16459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The CBT Model (Beck's Cognitive Triangle)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349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Situation  -&gt;  Automatic Thought  -&gt;  Emotion  -&gt;  Behavior</a:t>
            </a:r>
            <a:br/>
            <a:r>
              <a:t>          Change the thought  =  Change the feeling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How We Built It - 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17BF5"/>
                </a:solidFill>
                <a:latin typeface="Calibri"/>
              </a:defRPr>
            </a:pPr>
            <a:r>
              <a:t>32-State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Full Beck session structure</a:t>
            </a:r>
            <a:br/>
            <a:r>
              <a:t>from assessment to closing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Calibri"/>
              </a:defRPr>
            </a:pPr>
            <a:r>
              <a:t>3-Agent AI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Mirrors real therapist roles:</a:t>
            </a:r>
            <a:br/>
            <a:r>
              <a:t>questioner, analyzer, treater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Severity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Adapts treatment path based</a:t>
            </a:r>
            <a:br/>
            <a:r>
              <a:t>on patient's depression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Backend: Python / Flask API deployed on HuggingFace Spaces (Docker)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LLM: Groq API with LLaMA 3.3 70B - generates warm, therapeutic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Database: Turso (libSQL) - stores sessions, BDI scores, patient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Auth: JWT-based user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Session Flow - Matches Beck's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PRE-SESSION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1. BDI-II Assessment  -  21-item depression screening (Beck et al., 1996)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391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2. Bridge  -  Connect to previous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8658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3. Homework Review  -  Check on assigned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3405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4. Agenda Setting  -  Collaboratively decide today's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8152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5. Psychoeducation  -  Teach the CBT model (Session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7BF5"/>
                </a:solidFill>
                <a:latin typeface="Calibri"/>
              </a:defRPr>
            </a:pPr>
            <a:r>
              <a:t>CORE THERAPY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6. Severity Routing  -  Choose treatment path by BDI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70831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7. Cognitive Restructuring  -  Beck's 6 Socratic Questions (see next slide)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18303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 OR  Behavioral Activation  -  For severe depression (BDI &gt;= 29)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4865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POST-SESSION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01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8. Schema Check  -  Identify core beliefs (Session 4+)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0760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9. Thought Record (DRDT)  -  Generate Beck's worksheet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3550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10. Summary + Feedback  -  Patient states takeaways in own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97687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Source: full_protocol.py - 32 states total, mirrors Beck (1979) session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Core: Beck's 6 Socratic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From Judith Beck's Cognitive Behavior Therapy: Basics and Beyond (2020)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Examining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evidence supports this thought? What evidence is against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Q1_EVIDENCE_FOR / Q1_EVIDENCE_AGAINST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Alternative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50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Is there another way to look at this situation?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50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Q2_ALTERNATIVE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54096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9815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998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Decatastrophizing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998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What's the worst / best / most realistic outcome?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9981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Q3_WORST / Q3_BEST / Q3_REALISTIC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03904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96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49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Effect of Believing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8496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How does holding this thought affect you?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496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Q4_EFFECT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53712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99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99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Double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99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would you tell a friend with this same thought?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99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Q5_FRIEND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Action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can you do about this situation?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Q6_ACTION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90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800"/>
                </a:solidFill>
                <a:latin typeface="Calibri"/>
              </a:defRPr>
            </a:pPr>
            <a:r>
              <a:t>Each question = a separate state in our state machine. User answers one at a time, just like real therapy.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3-Agent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Mirrors how a real CBT therapist thinks and 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17BF5"/>
                </a:solidFill>
                <a:latin typeface="Calibri"/>
              </a:defRPr>
            </a:pPr>
            <a:r>
              <a:t>Agent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Warm Questioner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VALIDATE through Q6_ACTION (13 states)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Validates emotions, asks Beck's Socratic questions one</a:t>
            </a:r>
            <a:br/>
            <a:r>
              <a:t>at a time, captures belief ratings and emotions.</a:t>
            </a:r>
            <a:br/>
            <a:r>
              <a:t>Warm and empathic tone throughout.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Agent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Clinical Summarizer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SUMMARIZING (1 internal state)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Analyzes all patient responses internally.</a:t>
            </a:r>
            <a:br/>
            <a:r>
              <a:t>Finds contradictions in the evidence.</a:t>
            </a:r>
            <a:br/>
            <a:r>
              <a:t>Patient never sees this - just like a real therapist's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Agent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Treatment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DELIVER_REFRAME through COMPLETE (6 states)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Delivers balanced thought using patient's OWN words.</a:t>
            </a:r>
            <a:br/>
            <a:r>
              <a:t>Re-rates belief and emotion (measures change).</a:t>
            </a:r>
            <a:br/>
            <a:r>
              <a:t>Creates homework / behavioral experiment.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Source: groq_client.py (Agents 1-3) + beck_agents.py (extended protocol agents)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BDI-II: Beck's Own Assessment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We implement the full Beck Depression Inventory-II (Beck et al., 1996)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All 21 BDI-II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Sadness, Pessimism, Past Failure, Loss of Pleasure,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Guilty Feelings, Punishment Feelings, Self-Dislike,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Self-Criticalness, Suicidal Thoughts (CRISIS ITEM),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Crying, Agitation, Loss of Interest, Indecisiveness,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Worthlessness, Loss of Energy, Sleep Changes,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Irritability, Appetite Changes, Concentration,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Tiredness, Loss of Interest in Sex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Scoring (Beck's exact cutoffs)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0 - 13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Minimal depression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EB3B"/>
                </a:solidFill>
                <a:latin typeface="Calibri"/>
              </a:defRPr>
            </a:pPr>
            <a:r>
              <a:t>14 - 19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Mild depression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20 - 28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Moderate depression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  <a:latin typeface="Calibri"/>
              </a:defRPr>
            </a:pPr>
            <a:r>
              <a:t>29 - 63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2519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Severe depression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7491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Each item scored 0-3 by patient</a:t>
            </a:r>
            <a:br/>
            <a:r>
              <a:t>Item 9 (Suicidal Thoughts) triggers crisis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Smart Treatment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Based on Beck et al. (1979): Severely depressed patients need behavioral activation BEFORE cognitive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5350"/>
                </a:solidFill>
                <a:latin typeface="Calibri"/>
              </a:defRPr>
            </a:pPr>
            <a:r>
              <a:t>SEVERE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&gt;=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Behavioral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Too depressed for thought work.</a:t>
            </a:r>
            <a:br/>
            <a:r>
              <a:t>Focus on DOING, not thinking.</a:t>
            </a:r>
            <a:br/>
            <a:br/>
            <a:r>
              <a:t>1. Activity Monitoring</a:t>
            </a:r>
            <a:br/>
            <a:r>
              <a:t>2. Activity Scheduling</a:t>
            </a:r>
            <a:br/>
            <a:r>
              <a:t>3. Graded Task Assignment</a:t>
            </a:r>
            <a:br/>
            <a:br/>
            <a:r>
              <a:t>"Activity precedes mood change"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17BF5"/>
                </a:solidFill>
                <a:latin typeface="Calibri"/>
              </a:defRPr>
            </a:pPr>
            <a:r>
              <a:t>MILD / MODERATE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14-28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Cognitive Restructuring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Standard Beck protocol.</a:t>
            </a:r>
            <a:br/>
            <a:r>
              <a:t>The 6 Socratic Questions.</a:t>
            </a:r>
            <a:br/>
            <a:br/>
            <a:r>
              <a:t>Identify distorted thought</a:t>
            </a:r>
            <a:br/>
            <a:r>
              <a:t>-&gt; Examine evidence</a:t>
            </a:r>
            <a:br/>
            <a:r>
              <a:t>-&gt; Generate balanced thought</a:t>
            </a:r>
            <a:br/>
            <a:r>
              <a:t>-&gt; Measure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RECOVERED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&lt; 14 (3+ sessions)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Relapse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Patient is getting better!</a:t>
            </a:r>
            <a:br/>
            <a:r>
              <a:t>Prepare for independence.</a:t>
            </a:r>
            <a:br/>
            <a:br/>
            <a:r>
              <a:t>1. Celebrate BDI progress</a:t>
            </a:r>
            <a:br/>
            <a:r>
              <a:t>2. Identify warning signs</a:t>
            </a:r>
            <a:br/>
            <a:r>
              <a:t>3. Build coping plan</a:t>
            </a:r>
            <a:br/>
            <a:r>
              <a:t>4. Space out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Advanced Beck Techniques We Implement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7C4DFF"/>
                </a:solidFill>
                <a:latin typeface="Calibri"/>
              </a:defRPr>
            </a:pPr>
            <a:r>
              <a:t>Downward Arrow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353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3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Drills from surface thought to CORE BELIEF in 3-5 levels.</a:t>
            </a:r>
            <a:br/>
            <a:r>
              <a:t>"If that were true, what would it mean about you?"</a:t>
            </a:r>
            <a:br/>
            <a:r>
              <a:t>Identifies: Helplessness / Unlovability / Worthlessness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53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schema_agent() in beck_agents.py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17BF5"/>
                </a:solidFill>
                <a:latin typeface="Calibri"/>
              </a:defRPr>
            </a:pPr>
            <a:r>
              <a:t>Daily Record of Dysfunctional Thoughts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Auto-generates Beck's DRDT worksheet after each session:</a:t>
            </a:r>
            <a:br/>
            <a:r>
              <a:t>Situation -&gt; Thought -&gt; Emotion -&gt; Evidence -&gt; Balanced Thought -&gt;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87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drdt_agent() in beck_agents.py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Collaborative Empiricism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Patient and therapist work TOGETHER - not top-down.</a:t>
            </a:r>
            <a:br/>
            <a:r>
              <a:t>Agenda is set collaboratively. Feedback is explicitly requested.</a:t>
            </a:r>
            <a:br/>
            <a:r>
              <a:t>Patient restates takeaways in own words (guards against compliance).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agenda_setting_agent(), feedback_agent()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79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566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800"/>
                </a:solidFill>
                <a:latin typeface="Calibri"/>
              </a:defRPr>
            </a:pPr>
            <a:r>
              <a:t>Behavioral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0566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5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Each session ends with a small, testable action plan.</a:t>
            </a:r>
            <a:br/>
            <a:r>
              <a:t>Reviewed at start of next session as homework.</a:t>
            </a:r>
            <a:br/>
            <a:r>
              <a:t>Turns therapy insights into real-world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0566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ACTION_PLAN state in prompts.py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Safety &amp; Crisis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5350"/>
                </a:solidFill>
                <a:latin typeface="Calibri"/>
              </a:defRPr>
            </a:pPr>
            <a:r>
              <a:t>Every message is screened for crisis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BDI Item 9 (Suicidal Thoughts): Score &gt;= 2 triggers immediate crisis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Keyword-based crisis detection on every single chat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Crisis events are flagged in database for admin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Immediate crisis resources returned (hotlines, emergency contacts)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User name + email stored for follow-up by human professionals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Quality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Supervisor agent (8B model) evaluates every therapist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Checks: Collaboration, Guided Discovery, Focus, Warmth, Pacing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Flags safety concerns, fabricated techniques, state violations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Admin dashboard for monitoring all sessions and crisis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Academic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A.T., Rush, A.J., Shaw, B.F., &amp; Emery, G. (1979).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Cognitive Therapy of Depression. Guilford 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03703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A.T., Steer, R.A., &amp; Brown, G.K. (1996).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51175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Manual for the Beck Depression Inventory-II. Psychological Corporation.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J.S. (1995). Cognitive Behavior Therapy: Basics and Beyond. Guilford Press.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J.S. (2020). Cognitive Behavior Therapy: Basics and Beyond, 3rd Edition.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Guilford Press. [Thought Record Worksheet - implemented in prompts.py]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525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 (1976). Cognitive Therapy and the Emotional Disorders. Penguin.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74336"/>
            <a:ext cx="10698480" cy="128016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657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What this means: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77255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Every technique in our app maps directly to a published Beck protocol.</a:t>
            </a:r>
            <a:br/>
            <a:r>
              <a:t>This is not "inspired by CBT" - it is a structured implementation of Beck's specific methods.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CBT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B5F6"/>
                </a:solidFill>
                <a:latin typeface="Calibri"/>
              </a:defRPr>
            </a:pPr>
            <a:r>
              <a:t>Beck's CBT Protocol, Implemented as a 32-State AI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BDI-II Assessment  |  6 Socratic Questions  |  Severity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Behavioral Activation  |  Schema Work  |  Thought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Crisis Detection  |  Relapse Prevention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17BF5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