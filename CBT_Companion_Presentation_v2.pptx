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CBT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B5F6"/>
                </a:solidFill>
                <a:latin typeface="Calibri"/>
              </a:defRPr>
            </a:pPr>
            <a:r>
              <a:t>AI-Powered Cognitive Behavioral Therapy using Beck's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How we implemented evidence-based therapy in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What is Beck's CBT?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Developed by Dr. Aaron T. Beck (1960s) - the gold standard of talk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Core idea: It's not events that upset us, it's how we THINK about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Therapist helps patient identify distorted thoughts and replace them with balanced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Uses structured sessions with standardized tools (BDI-II, Thought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Backed by 50+ years of clinical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754880"/>
            <a:ext cx="4846320" cy="16459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The CBT Model (Beck's Cognitive Triangle)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349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Situation  -&gt;  Automatic Thought  -&gt;  Emotion  -&gt;  Behavior</a:t>
            </a:r>
            <a:br/>
            <a:r>
              <a:t>          Change the thought  =  Change the feeling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How We Built It - 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17BF5"/>
                </a:solidFill>
                <a:latin typeface="Calibri"/>
              </a:defRPr>
            </a:pPr>
            <a:r>
              <a:t>32-State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Full Beck session structure</a:t>
            </a:r>
            <a:br/>
            <a:r>
              <a:t>from assessment to closing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Calibri"/>
              </a:defRPr>
            </a:pPr>
            <a:r>
              <a:t>3-Agent AI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Mirrors real therapist roles:</a:t>
            </a:r>
            <a:br/>
            <a:r>
              <a:t>questioner, analyzer, treater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Severity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Adapts treatment path based</a:t>
            </a:r>
            <a:br/>
            <a:r>
              <a:t>on patient's depression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Backend: Python / Flask API deployed on HuggingFace Spaces (Docker)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LLM: Groq API with LLaMA 3.3 70B - generates warm, therapeutic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Database: Turso (libSQL) - stores sessions, BDI scores, patient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Auth: JWT-based user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Session Flow - Matches Beck's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PRE-SESSION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1. BDI-II Assessment  -  21-item depression screening (Beck et al., 1996)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391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2. Bridge  -  Connect to previous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8658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3. Homework Review  -  Check on assigned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3405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4. Agenda Setting  -  Collaboratively decide today's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8152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5. Psychoeducation  -  Teach the CBT model (Session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7BF5"/>
                </a:solidFill>
                <a:latin typeface="Calibri"/>
              </a:defRPr>
            </a:pPr>
            <a:r>
              <a:t>CORE THERAPY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6. Severity Routing  -  Choose treatment path by BDI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70831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7. Cognitive Restructuring  -  Beck's 6 Socratic Questions (see next slide)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18303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 OR  Behavioral Activation  -  For severe depression (BDI &gt;= 29)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4865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POST-SESSION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01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8. Schema Check  -  Identify core beliefs (Session 4+)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0760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9. Thought Record (DRDT)  -  Generate Beck's worksheet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3550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10. Summary + Feedback  -  Patient states takeaways in own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97687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Source: full_protocol.py - 32 states total, mirrors Beck (1979) session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Core: Beck's 6 Socratic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From Judith Beck's Cognitive Behavior Therapy: Basics and Beyond (2020)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Examining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evidence supports this thought? What evidence is against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Q1_EVIDENCE_FOR / Q1_EVIDENCE_AGAINST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50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Alternative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50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Is there another way to look at this situation?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350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Q2_ALTERNATIVE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54096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9815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998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Decatastrophizing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998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What's the worst / best / most realistic outcome?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9981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Q3_WORST / Q3_BEST / Q3_REALISTIC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03904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96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49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Effect of Believing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8496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How does holding this thought affect you?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8496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Q4_EFFECT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53712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994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99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Double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99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would you tell a friend with this same thought?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99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Q5_FRIEND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Action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can you do about this situation?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Q6_ACTION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90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800"/>
                </a:solidFill>
                <a:latin typeface="Calibri"/>
              </a:defRPr>
            </a:pPr>
            <a:r>
              <a:t>Each question = a separate state in our state machine. User answers one at a time, just like real therapy.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3-Agent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Mirrors how a real CBT therapist thinks and 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17BF5"/>
                </a:solidFill>
                <a:latin typeface="Calibri"/>
              </a:defRPr>
            </a:pPr>
            <a:r>
              <a:t>Agent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Warm Questioner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VALIDATE through Q6_ACTION (13 states)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Validates emotions, asks Beck's Socratic questions one</a:t>
            </a:r>
            <a:br/>
            <a:r>
              <a:t>at a time, captures belief ratings and emotions.</a:t>
            </a:r>
            <a:br/>
            <a:r>
              <a:t>Warm and empathic tone throughout.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Calibri"/>
              </a:defRPr>
            </a:pPr>
            <a:r>
              <a:t>Agent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Clinical Summarizer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SUMMARIZING (1 internal state)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Analyzes all patient responses internally.</a:t>
            </a:r>
            <a:br/>
            <a:r>
              <a:t>Finds contradictions in the evidence.</a:t>
            </a:r>
            <a:br/>
            <a:r>
              <a:t>Patient never sees this - just like a real therapist's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  <a:latin typeface="Calibri"/>
              </a:defRPr>
            </a:pPr>
            <a:r>
              <a:t>Agent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Treatment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DELIVER_REFRAME through COMPLETE (6 states)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Delivers balanced thought using patient's OWN words.</a:t>
            </a:r>
            <a:br/>
            <a:r>
              <a:t>Re-rates belief and emotion (measures change).</a:t>
            </a:r>
            <a:br/>
            <a:r>
              <a:t>Creates homework / behavioral experiment.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Source: groq_client.py (Agents 1-3) + beck_agents.py (extended protocol agents)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BDI-II: Beck's Own Assessment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We implement the full Beck Depression Inventory-II (Beck et al., 1996)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All 21 BDI-II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Sadness, Pessimism, Past Failure, Loss of Pleasure,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Guilty Feelings, Punishment Feelings, Self-Dislike,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Self-Criticalness, Suicidal Thoughts (CRISIS ITEM),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Crying, Agitation, Loss of Interest, Indecisiveness,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Worthlessness, Loss of Energy, Sleep Changes,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Irritability, Appetite Changes, Concentration,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Tiredness, Loss of Interest in Sex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Scoring (Beck's exact cutoffs)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0 - 13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Minimal depression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EB3B"/>
                </a:solidFill>
                <a:latin typeface="Calibri"/>
              </a:defRPr>
            </a:pPr>
            <a:r>
              <a:t>14 - 19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Mild depression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20 - 28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Moderate depression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  <a:latin typeface="Calibri"/>
              </a:defRPr>
            </a:pPr>
            <a:r>
              <a:t>29 - 63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2519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Severe depression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7491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Each item scored 0-3 by patient</a:t>
            </a:r>
            <a:br/>
            <a:r>
              <a:t>Item 9 (Suicidal Thoughts) triggers crisis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Smart Treatment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Based on Beck et al. (1979): Severely depressed patients need behavioral activation BEFORE cognitive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5350"/>
                </a:solidFill>
                <a:latin typeface="Calibri"/>
              </a:defRPr>
            </a:pPr>
            <a:r>
              <a:t>SEVERE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&gt;=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Behavioral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Too depressed for thought work.</a:t>
            </a:r>
            <a:br/>
            <a:r>
              <a:t>Focus on DOING, not thinking.</a:t>
            </a:r>
            <a:br/>
            <a:br/>
            <a:r>
              <a:t>1. Activity Monitoring</a:t>
            </a:r>
            <a:br/>
            <a:r>
              <a:t>2. Activity Scheduling</a:t>
            </a:r>
            <a:br/>
            <a:r>
              <a:t>3. Graded Task Assignment</a:t>
            </a:r>
            <a:br/>
            <a:br/>
            <a:r>
              <a:t>"Activity precedes mood change"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17BF5"/>
                </a:solidFill>
                <a:latin typeface="Calibri"/>
              </a:defRPr>
            </a:pPr>
            <a:r>
              <a:t>MILD / MODERATE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14-28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Cognitive Restructuring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Standard Beck protocol.</a:t>
            </a:r>
            <a:br/>
            <a:r>
              <a:t>The 6 Socratic Questions.</a:t>
            </a:r>
            <a:br/>
            <a:br/>
            <a:r>
              <a:t>Identify distorted thought</a:t>
            </a:r>
            <a:br/>
            <a:r>
              <a:t>-&gt; Examine evidence</a:t>
            </a:r>
            <a:br/>
            <a:r>
              <a:t>-&gt; Generate balanced thought</a:t>
            </a:r>
            <a:br/>
            <a:r>
              <a:t>-&gt; Measure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RECOVERED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&lt; 14 (3+ sessions)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Relapse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Patient is getting better!</a:t>
            </a:r>
            <a:br/>
            <a:r>
              <a:t>Prepare for independence.</a:t>
            </a:r>
            <a:br/>
            <a:br/>
            <a:r>
              <a:t>1. Celebrate BDI progress</a:t>
            </a:r>
            <a:br/>
            <a:r>
              <a:t>2. Identify warning signs</a:t>
            </a:r>
            <a:br/>
            <a:r>
              <a:t>3. Build coping plan</a:t>
            </a:r>
            <a:br/>
            <a:r>
              <a:t>4. Space out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Advanced Beck Techniques We Implement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7C4DFF"/>
                </a:solidFill>
                <a:latin typeface="Calibri"/>
              </a:defRPr>
            </a:pPr>
            <a:r>
              <a:t>Downward Arrow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353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3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Drills from surface thought to CORE BELIEF in 3-5 levels.</a:t>
            </a:r>
            <a:br/>
            <a:r>
              <a:t>"If that were true, what would it mean about you?"</a:t>
            </a:r>
            <a:br/>
            <a:r>
              <a:t>Identifies: Helplessness / Unlovability / Worthlessness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53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schema_agent() in beck_agents.py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17BF5"/>
                </a:solidFill>
                <a:latin typeface="Calibri"/>
              </a:defRPr>
            </a:pPr>
            <a:r>
              <a:t>Daily Record of Dysfunctional Thoughts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Auto-generates Beck's DRDT worksheet after each session:</a:t>
            </a:r>
            <a:br/>
            <a:r>
              <a:t>Situation -&gt; Thought -&gt; Emotion -&gt; Evidence -&gt; Balanced Thought -&gt;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87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drdt_agent() in beck_agents.py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22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Collaborative Empiricism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Patient and therapist work TOGETHER - not top-down.</a:t>
            </a:r>
            <a:br/>
            <a:r>
              <a:t>Agenda is set collaboratively. Feedback is explicitly requested.</a:t>
            </a:r>
            <a:br/>
            <a:r>
              <a:t>Patient restates takeaways in own words (guards against compliance).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822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agenda_setting_agent(), feedback_agent()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79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566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800"/>
                </a:solidFill>
                <a:latin typeface="Calibri"/>
              </a:defRPr>
            </a:pPr>
            <a:r>
              <a:t>Behavioral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0566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5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Each session ends with a small, testable action plan.</a:t>
            </a:r>
            <a:br/>
            <a:r>
              <a:t>Reviewed at start of next session as homework.</a:t>
            </a:r>
            <a:br/>
            <a:r>
              <a:t>Turns therapy insights into real-world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0566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ACTION_PLAN state in prompts.py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Flow 1: Pre-Session States (6 States)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What happens BEFORE core therapy begins - just like a real Beck session opening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80467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alibri"/>
              </a:defRPr>
            </a:pPr>
            <a:r>
              <a:t>BDI_ASSESSMENT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"I'd like to check in on how you've been feeling. Over the past two weeks, regarding sadness...</a:t>
            </a:r>
            <a:br/>
            <a:r>
              <a:t>  0: I do not feel sad  |  1: I feel sad much of the time  |  2: I am sad all the time  |  3: I can't stand it"</a:t>
            </a:r>
            <a:br/>
            <a:r>
              <a:t>User: "2"    -&gt;  Repeats for all 21 items. Scores are summed. Result: BDI = 22 (moderate)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95144"/>
            <a:ext cx="10972800" cy="80467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2257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alibri"/>
              </a:defRPr>
            </a:pPr>
            <a:r>
              <a:t>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9463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"Last time we worked on that thought about failing at work. How have things been since then?"</a:t>
            </a:r>
            <a:br/>
            <a:r>
              <a:t>User: "I tried the thought record, it helped a bit but the feeling came back"</a:t>
            </a:r>
            <a:br/>
            <a:r>
              <a:t>Aria: "That's actually really common - and the fact you tried it matters."   [BRIDGE_COMPLETE]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72968"/>
            <a:ext cx="10972800" cy="80467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39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003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alibri"/>
              </a:defRPr>
            </a:pPr>
            <a:r>
              <a:t>HOMEWORK_REVIEW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47287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"You had planned to talk to your manager about workload. How did that go?"</a:t>
            </a:r>
            <a:br/>
            <a:r>
              <a:t>User: "I didn't do it, I chickened out"</a:t>
            </a:r>
            <a:br/>
            <a:r>
              <a:t>Aria: "That's completely okay. What got in the way?"  (no blame - non-completion is DATA)  [HOMEWORK_REVIEW_COMPLETE]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50791"/>
            <a:ext cx="10972800" cy="80467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782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78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alibri"/>
              </a:defRPr>
            </a:pPr>
            <a:r>
              <a:t>AGENDA_SETTING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2511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"What would be most helpful to focus on today?"</a:t>
            </a:r>
            <a:br/>
            <a:r>
              <a:t>User: "I keep thinking I'm going to get fired"</a:t>
            </a:r>
            <a:br/>
            <a:r>
              <a:t>Aria: "So today we'll focus on that fear of being fired. Sound good?"   [AGENDA_SET: fear of being fired]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28616"/>
            <a:ext cx="10972800" cy="80467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56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56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alibri"/>
              </a:defRPr>
            </a:pPr>
            <a:r>
              <a:t>PSYCHOEDUCATION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02936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"Notice something interesting - the SITUATION is your boss gave feedback. The THOUGHT is 'I'm going to get</a:t>
            </a:r>
            <a:br/>
            <a:r>
              <a:t>  fired.' The FEELING is anxiety. It's not the feedback itself making you anxious - it's what you THINK about it."</a:t>
            </a:r>
            <a:br/>
            <a:r>
              <a:t>User: "Oh... I never thought of it that way"   [PSYCHOEDUCATION_COMPLETE]     (Session 1 only)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06440"/>
            <a:ext cx="10972800" cy="80467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338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8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833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88"/>
                </a:solidFill>
                <a:latin typeface="Calibri"/>
              </a:defRPr>
            </a:pPr>
            <a:r>
              <a:t>SEVERITY_ROUTING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08075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No conversation - pure logic. Checks BDI score:</a:t>
            </a:r>
            <a:br/>
            <a:r>
              <a:t>  BDI &gt;= 29  -&gt;  BEHAVIORAL ACTIVATION (too depressed for thought work)</a:t>
            </a:r>
            <a:br/>
            <a:r>
              <a:t>  BDI 14-28  -&gt;  COGNITIVE RESTRUCTURING (standard Beck protocol)</a:t>
            </a:r>
            <a:br/>
            <a:r>
              <a:t>  BDI &lt; 14 for 3+ sessions  -&gt;  RELAPSE PREVENTION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17BF5"/>
                </a:solidFill>
                <a:latin typeface="Calibri"/>
              </a:defRPr>
            </a:pPr>
            <a:r>
              <a:t>Flow 2: Cognitive Restructuring - Agent 1 (13 States)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The Warm Questioner - validates feelings, captures data, asks Beck's 6 Socratic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00" cy="411480"/>
          </a:xfrm>
          <a:prstGeom prst="round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Example: Patient says "I'm going to get fired. My boss hates me."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47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47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"That sounds really heavy. The fear of losing your job is so stressful. Thank you for sharing that."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13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13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RATE_BELIEF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13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"How much do you believe 'I'm going to get fired' right now? 0-100%?"   User: "85%"   -&gt; saves 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5176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791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791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CAPTURE_EMOTION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79191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"When you think that thought, what emotion comes up?"   User: "Anxiety, and some shame"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1752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4495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04495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RATE_EMOTION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044951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"How intense is that anxiety, 0-100?"   User: "90"   -&gt; saves 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383279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1071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1071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Q1: EVIDENCE_FOR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410711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"What makes this thought feel true?"   User: "My boss gave me critical feedback on Monday"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749039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76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776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Q1: EVIDENCE_AGAINST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7764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"Has there been any time your boss was positive about your work?"   User: "He did praise my last project"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11480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1422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142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Q2: ALTERNATIVE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1422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"Could there be another explanation for the feedback?"   User: "Maybe he wants me to improve, not leave"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8056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507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5079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Q3: WORST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5079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"What's the worst that could happen?"   User: "I get fired and can't pay rent"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4632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873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873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Q3: BEST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8737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"And the best?"   User: "He's just being a tough manager and I keep my job"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21208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2395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2395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Q3: REALISTIC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2395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"What will realistically happen?"   User: "Probably I'll get another review in a month"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57784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052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56052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Q4: EFFECT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605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"How does believing 'I'll get fired' affect you?"   User: "I can't sleep, I avoid my boss"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94360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9710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5971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Q5: FRIEND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5971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"What would you tell a friend who had this exact thought?"   User: "One bad review doesn't mean fired"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6309360"/>
            <a:ext cx="10972800" cy="33832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6336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720" y="6336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17BF5"/>
                </a:solidFill>
                <a:latin typeface="Calibri"/>
              </a:defRPr>
            </a:pPr>
            <a:r>
              <a:t>Q6: ACTION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6336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"What could you do about this?"   User: "Ask my boss what I can improve specifically"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17BF5"/>
                </a:solidFill>
                <a:latin typeface="Calibri"/>
              </a:defRPr>
            </a:pPr>
            <a:r>
              <a:t>Flow 2 contd: Agent 2 (Summarizer) + Agent 3 (Treatment)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Internal analysis, then deliver the reframe and measure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16459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Calibri"/>
              </a:defRPr>
            </a:pPr>
            <a:r>
              <a:t>AGENT 2: Clinical Summarizer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State 20: SUMMARIZING  (internal - patient never sees this)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AI internally analyzes:  "Patient's OWN evidence contradicts their thought. They said boss praised last project</a:t>
            </a:r>
            <a:br/>
            <a:r>
              <a:t>(evidence against) but fixated on one negative review (evidence for). Friend-advice reveals they KNOW one review</a:t>
            </a:r>
            <a:br/>
            <a:r>
              <a:t>doesn't mean fired. Distortion type: Fortune Telling + Catastrophizing. Key leverage: their own friend-advice."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0972800" cy="329184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AGENT 3: Treatment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DELIVER_REFRAME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03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"From YOUR own words - your boss praised your last project, and you told me one bad review</a:t>
            </a:r>
            <a:br/>
            <a:r>
              <a:t>  doesn't mean getting fired. A more balanced thought might be: 'I got tough feedback, but one review</a:t>
            </a:r>
            <a:br/>
            <a:r>
              <a:t>  doesn't define my whole career. I can ask what to improve.' How does that land?"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24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24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RATE_NEW_THOUGHT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245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"How much do you believe that new balanced thought, 0-100?"   User: "70%"   -&gt; saves 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457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457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RERATE_ORIGINAL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74573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"Now thinking back to 'I'm going to get fired' - how much do you believe it now?"   User: "40%"</a:t>
            </a:r>
            <a:br/>
            <a:r>
              <a:t>  -&gt; saves 40   (was 85% -&gt; now 40% = 45% improvement!)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66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266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RERATE_EMOTION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6694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"And that anxiety - how intense is it now, 0-100?"   User: "50"   -&gt; saves 50   (was 90 -&gt; now 50)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881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7881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ACTION_PLAN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788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"Is there one small thing you could do this week to test this new perspective?"</a:t>
            </a:r>
            <a:br/>
            <a:r>
              <a:t>  User: "I'll ask my boss for a quick check-in about what I can improve"   -&gt; homework for next 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09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6309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309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"You started at 85% belief and you're at 40% now - that's a 45% shift! Your anxiety dropped from</a:t>
            </a:r>
            <a:br/>
            <a:r>
              <a:t>  90 to 50. You did real work today. Remember, you can always come back."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6876288"/>
            <a:ext cx="6858000" cy="45720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69220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Measurable outcome: Belief 85% -&gt; 40% (-45%)  |  Anxiety 90 -&gt; 50 (-40 points)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Flow 3: Post-Session States (5 States)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After core therapy - schema work, thought record, summary,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169164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4DFF"/>
                </a:solidFill>
                <a:latin typeface="Calibri"/>
              </a:defRPr>
            </a:pPr>
            <a:r>
              <a:t>SCHEMA_CHECK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Downward Arrow Technique (Session 4+ only, when patterns are visible)</a:t>
            </a:r>
            <a:br/>
            <a:br/>
            <a:r>
              <a:t>Aria: "I notice a pattern - last session it was 'I'll fail the exam,' today it's 'I'll get fired.'</a:t>
            </a:r>
            <a:br/>
            <a:r>
              <a:t>  If it were true that you'd fail at everything... what would that mean about you?"</a:t>
            </a:r>
            <a:br/>
            <a:r>
              <a:t>User: "That I'm incompetent"</a:t>
            </a:r>
            <a:br/>
            <a:r>
              <a:t>Aria: "And if you were incompetent, what would that mean?"</a:t>
            </a:r>
            <a:br/>
            <a:r>
              <a:t>User: "That I'm worthless"   -&gt;  [SCHEMA_IDENTIFIED: I am worthless]   (Beck's core belief category)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82112"/>
            <a:ext cx="10972800" cy="169164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278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17BF5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27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17BF5"/>
                </a:solidFill>
                <a:latin typeface="Calibri"/>
              </a:defRPr>
            </a:pPr>
            <a:r>
              <a:t>DRDT_OUTPUT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02152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Auto-generated Daily Record of Dysfunctional Thoughts (no user input needed)</a:t>
            </a:r>
            <a:br/>
            <a:br/>
            <a:r>
              <a:t>  YOUR THOUGHT RECORD</a:t>
            </a:r>
            <a:br/>
            <a:r>
              <a:t>  Situation: Boss gave critical feedback  |  Thought: "I'm going to get fired" (85%)</a:t>
            </a:r>
            <a:br/>
            <a:r>
              <a:t>  Emotion: Anxiety (90/100)  |  Distortion: Fortune Telling + Catastrophizing</a:t>
            </a:r>
            <a:br/>
            <a:r>
              <a:t>  Evidence For: Got negative feedback  |  Evidence Against: Boss praised last project</a:t>
            </a:r>
            <a:br/>
            <a:r>
              <a:t>  Balanced Thought: "One review doesn't define my career" (70%)</a:t>
            </a:r>
            <a:br/>
            <a:r>
              <a:t>  Outcome: Belief 85% -&gt; 40%  |  Anxiety 90 -&gt; 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46904"/>
            <a:ext cx="10972800" cy="1417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9262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926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SESSION_SUMMARY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66944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"Here's what we covered: We looked at your fear of being fired, examined the evidence, and</a:t>
            </a:r>
            <a:br/>
            <a:r>
              <a:t>  found a more balanced perspective. Your homework is to ask your boss for a check-in.</a:t>
            </a:r>
            <a:br/>
            <a:r>
              <a:t>  What are YOUR main takeaways?"</a:t>
            </a:r>
            <a:br/>
            <a:r>
              <a:t>User: "That one bad review doesn't mean I'm getting fired, and I should check in with my boss"</a:t>
            </a:r>
            <a:br/>
            <a:r>
              <a:t>  (Patient states it in OWN words - Beck 1995: guards against compliance)   [SUMMARY_COMPLETE]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6437376"/>
            <a:ext cx="10972800" cy="1417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830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64830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SESSION_FEEDBACK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6757416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Aria: "How did this session feel for you? Was there anything that bothered you or felt off?"</a:t>
            </a:r>
            <a:br/>
            <a:r>
              <a:t>User: "It was helpful, I feel less anxious now"</a:t>
            </a:r>
            <a:br/>
            <a:r>
              <a:t>Aria: "Thank you for sharing that. See you next time!"   [FEEDBACK_COMPLETE]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7927848"/>
            <a:ext cx="10972800" cy="9601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79735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7973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SESSION_DONE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8247888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Session is marked complete in database. Patient profile updated.</a:t>
            </a:r>
            <a:br/>
            <a:r>
              <a:t>Session count incremented. Homework saved for next session's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Flow 4: Behavioral Activation Path (3 States)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For SEVERE depression (BDI &gt;= 29). Beck found these patients are too depressed for thought work first.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00" cy="45720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  <a:latin typeface="Calibri"/>
              </a:defRPr>
            </a:pPr>
            <a:r>
              <a:t>Key principle: "Activity precedes mood change" - focus on DOING, not thinking (Beck et al., 1979)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0972800" cy="17830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  <a:latin typeface="Calibri"/>
              </a:defRPr>
            </a:pPr>
            <a:r>
              <a:t>BA_MONITORING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5156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Track what patient is currently doing (or NOT doing)</a:t>
            </a:r>
            <a:br/>
            <a:br/>
            <a:r>
              <a:t>Aria: "Walk me through a typical day right now."</a:t>
            </a:r>
            <a:br/>
            <a:r>
              <a:t>User: "I wake up late, stay in bed, skip meals, don't shower, watch TV all day"</a:t>
            </a:r>
            <a:br/>
            <a:r>
              <a:t>Aria: "That sounds exhausting just existing right now. When everything feels this heavy,</a:t>
            </a:r>
            <a:br/>
            <a:r>
              <a:t>  even getting out of bed is an achievement. Let's rate these activities:</a:t>
            </a:r>
            <a:br/>
            <a:r>
              <a:t>  Mastery (how hard it feels 0-10)?  Pleasure (any enjoyment 0-10)?"</a:t>
            </a:r>
            <a:br/>
            <a:r>
              <a:t>User: "Getting out of bed: Mastery 8, Pleasure 0. Watching TV: Mastery 1, Pleasure 2"</a:t>
            </a:r>
            <a:br/>
            <a:r>
              <a:t>  [BA_MONITORING_COMPLETE]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10972800" cy="214884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BA_SCHEDULING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515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Schedule ONE small, specific activity</a:t>
            </a:r>
            <a:br/>
            <a:br/>
            <a:r>
              <a:t>Aria: "Let's pick one tiny thing for this week. Not 'exercise' but something super specific.</a:t>
            </a:r>
            <a:br/>
            <a:r>
              <a:t>  What if you took a 10-minute walk tomorrow at 9am - just around the block?"</a:t>
            </a:r>
            <a:br/>
            <a:r>
              <a:t>User: "I don't think I can"</a:t>
            </a:r>
            <a:br/>
            <a:r>
              <a:t>Aria: "What if it was just 5 minutes? Just step outside your door and back?"</a:t>
            </a:r>
            <a:br/>
            <a:r>
              <a:t>User: "Maybe... 5 minutes I could try"</a:t>
            </a:r>
            <a:br/>
            <a:r>
              <a:t>Aria: "Let's imagine it: Tomorrow, 9am. You put on shoes, open the door, walk 2 minutes out,</a:t>
            </a:r>
            <a:br/>
            <a:r>
              <a:t>  turn around. That's it. What might get in the way?"</a:t>
            </a:r>
            <a:br/>
            <a:r>
              <a:t>User: "Oversleeping"   Aria: "Could you set an alarm?"   [BA_SCHEDULING_COMPLETE]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6126480"/>
            <a:ext cx="10972800" cy="17830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BA_GRADED_TASK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92240"/>
            <a:ext cx="105156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Build graduated steps from tiny to normal</a:t>
            </a:r>
            <a:br/>
            <a:br/>
            <a:r>
              <a:t>Aria: "Here's a gentle plan we can build up:</a:t>
            </a:r>
            <a:br/>
            <a:r>
              <a:t>  Step 1 (this week): 5-minute walk, just outside and back</a:t>
            </a:r>
            <a:br/>
            <a:r>
              <a:t>  Step 2 (next week): 10-minute walk around the block</a:t>
            </a:r>
            <a:br/>
            <a:r>
              <a:t>  Step 3 (week 3): 15-minute walk to the park</a:t>
            </a:r>
            <a:br/>
            <a:r>
              <a:t>  We only move to the next step when the current one feels manageable.</a:t>
            </a:r>
            <a:br/>
            <a:r>
              <a:t>  No rushing. Small wins matter more than big goals."</a:t>
            </a:r>
            <a:br/>
            <a:r>
              <a:t>  [BA_GRADED_COMPLETE]   -&gt;   Then moves to DRDT_OUTPUT (post-session closing)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Flow 5: Relapse Prevention Path (1 State)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For RECOVERED patients - BDI below 14 for 3+ consecutive sessions (8+ total sessions)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5720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Patient is getting better! Time to prepare for independence and prevent setbacks.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72800" cy="32004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RELAPSE_PREVENTION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Aria: "Looking at your progress - you started at BDI 35 (severe) and now you're at 11 (minimal)</a:t>
            </a:r>
            <a:br/>
            <a:r>
              <a:t>  for three sessions in a row. That's incredible work!"</a:t>
            </a:r>
            <a:br/>
            <a:br/>
            <a:r>
              <a:t>Aria: "I want to make sure these gains stick. What situations might bring old thought patterns back?"</a:t>
            </a:r>
            <a:br/>
            <a:r>
              <a:t>User: "Probably work stress, or if I get negative feedback again"</a:t>
            </a:r>
            <a:br/>
            <a:br/>
            <a:r>
              <a:t>Aria: "Good awareness. Let's build a coping plan:"</a:t>
            </a:r>
            <a:br/>
            <a:r>
              <a:t>  1. Warning signs:  Skipping meals, avoiding people, catastrophizing</a:t>
            </a:r>
            <a:br/>
            <a:r>
              <a:t>  2. Strategies:  Thought record, 5-minute walk, call a friend</a:t>
            </a:r>
            <a:br/>
            <a:r>
              <a:t>  3. Support contacts:  Best friend Sarah, therapist hotline</a:t>
            </a:r>
            <a:br/>
            <a:br/>
            <a:r>
              <a:t>Aria: "We can also start spacing our sessions out - maybe monthly check-ins instead of weekly.</a:t>
            </a:r>
            <a:br/>
            <a:r>
              <a:t>  Occasional setbacks are totally normal - they don't erase your progress."</a:t>
            </a:r>
            <a:br/>
            <a:r>
              <a:t>  [RELAPSE_PLAN_COMPLETE]   -&gt;   Moves to SESSION_SUMMARY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17BF5"/>
                </a:solidFill>
                <a:latin typeface="Calibri"/>
              </a:defRPr>
            </a:pPr>
            <a:r>
              <a:t>Complete 32-State Map - All States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PRE-SESSION (6)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56032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356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800"/>
                </a:solidFill>
                <a:latin typeface="Calibri"/>
              </a:defRPr>
            </a:pPr>
            <a:r>
              <a:t>1. BDI_ASSESSMENT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19072"/>
            <a:ext cx="256032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800"/>
                </a:solidFill>
                <a:latin typeface="Calibri"/>
              </a:defRPr>
            </a:pPr>
            <a:r>
              <a:t>2.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20824"/>
            <a:ext cx="256032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800"/>
                </a:solidFill>
                <a:latin typeface="Calibri"/>
              </a:defRPr>
            </a:pPr>
            <a:r>
              <a:t>3. HOMEWORK_REVIEW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22576"/>
            <a:ext cx="256032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408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800"/>
                </a:solidFill>
                <a:latin typeface="Calibri"/>
              </a:defRPr>
            </a:pPr>
            <a:r>
              <a:t>4. AGENDA_SETTING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24328"/>
            <a:ext cx="256032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426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800"/>
                </a:solidFill>
                <a:latin typeface="Calibri"/>
              </a:defRPr>
            </a:pPr>
            <a:r>
              <a:t>5. PSYCHOEDUCATION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256032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443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9800"/>
                </a:solidFill>
                <a:latin typeface="Calibri"/>
              </a:defRPr>
            </a:pPr>
            <a:r>
              <a:t>6. SEVERITY_ROUTING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27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ROUTES TO ONE OF THREE PATHS: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7BF5"/>
                </a:solidFill>
                <a:latin typeface="Calibri"/>
              </a:defRPr>
            </a:pPr>
            <a:r>
              <a:t>COGNITIVE RESTRUCTURING (20)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1417320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142646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7. VALIDATE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1677924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68706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8. RATE_BELIEF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1938528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194767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9. CAPTURE_EMOTION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2199132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220827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10. RATE_EMOTION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2459736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24688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11. Q1_EVIDENCE_FOR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2720340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27294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12. Q1_EVIDENCE_AGAINST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2980944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29900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13. Q2_ALTERNATIVE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3241548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32506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14. Q3_WORST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3502152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351129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15. Q3_BEST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3762756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37719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16. Q3_REALISTIC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4023360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403250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17. Q4_EFFECT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4283964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42931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18. Q5_FRIEND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74720" y="4544568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60" y="455371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19. Q6_ACTION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0" y="4805172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60" y="48143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4DFF"/>
                </a:solidFill>
                <a:latin typeface="Calibri"/>
              </a:defRPr>
            </a:pPr>
            <a:r>
              <a:t>20. SUMMARIZING (internal)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5065776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507492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21. DELIVER_REFRAME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720" y="5326380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6160" y="533552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22. RATE_NEW_THOUGHT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0" y="5586984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559612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23. RERATE_ORIGINAL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74720" y="5847588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0" y="58567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24. RERATE_EMOTION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74720" y="6108192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66160" y="61173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25. ACTION_PLAN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74720" y="6368796"/>
            <a:ext cx="3200400" cy="237744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66160" y="63779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17BF5"/>
                </a:solidFill>
                <a:latin typeface="Calibri"/>
              </a:defRPr>
            </a:pPr>
            <a:r>
              <a:t>26. COMPLETE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  <a:latin typeface="Calibri"/>
              </a:defRPr>
            </a:pPr>
            <a:r>
              <a:t>BEHAVIORAL ACT. (3)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32320" y="1417320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0" y="14356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5350"/>
                </a:solidFill>
                <a:latin typeface="Calibri"/>
              </a:defRPr>
            </a:pPr>
            <a:r>
              <a:t>BA_MONITORING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32320" y="1719072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23760" y="1737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5350"/>
                </a:solidFill>
                <a:latin typeface="Calibri"/>
              </a:defRPr>
            </a:pPr>
            <a:r>
              <a:t>BA_SCHEDULING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32320" y="2020824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23760" y="20391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5350"/>
                </a:solidFill>
                <a:latin typeface="Calibri"/>
              </a:defRPr>
            </a:pPr>
            <a:r>
              <a:t>BA_GRADED_TASK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RELAPSE (1)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32320" y="2834640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23760" y="28529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RELAPSE_PREVENTION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10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POST-SESSION (5)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1417320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75520" y="14356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27. SCHEMA_CHECK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84080" y="1719072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75520" y="1737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28. DRDT_OUTPUT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784080" y="2020824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75520" y="20391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29. SESSION_SUMMARY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84080" y="2322576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75520" y="234086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30. SESSION_FEEDBACK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784080" y="2624328"/>
            <a:ext cx="219456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75520" y="26426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CAF50"/>
                </a:solidFill>
                <a:latin typeface="Calibri"/>
              </a:defRPr>
            </a:pPr>
            <a:r>
              <a:t>31. SESSION_DONE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All paths converge to POST-SESSION states -&gt;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5943600"/>
            <a:ext cx="11247120" cy="7315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Every session starts at BDI_ASSESSMENT -&gt; Pre-session states -&gt; Severity routing picks a path -&gt; Core therapy (cognitive OR behavioral OR relapse) -&gt; Post-session closing. Each state = one conversation turn.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17BF5"/>
                </a:solidFill>
                <a:latin typeface="Calibri"/>
              </a:defRPr>
            </a:pPr>
            <a:r>
              <a:t>Example: Complete Session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Session 3, Moderate Depression (BDI=22). Full path through the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356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BDI_ASSESSMENT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356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21 items -&gt; Score: 22 (moderate)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05356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2364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236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2364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"How have things been since last session?"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93392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116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0116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HOMEWORK_REVIEW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"Did you try the thought record?" -&gt; Reviewed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281428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29971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29971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AGENDA_SETTING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2997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"Let's focus on 'I'm going to get fired'"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569464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5877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8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5877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88"/>
                </a:solidFill>
                <a:latin typeface="Calibri"/>
              </a:defRPr>
            </a:pPr>
            <a:r>
              <a:t>SEVERITY_ROUTING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587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BDI=22 -&gt; COGNITIVE RESTRUCTURING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857500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8757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8757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8757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"That sounds really heavy. Thank you for sharing."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145536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16382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1638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RATE_BELIEF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1638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"I'm going to get fired" -&gt; 85%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433572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4518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34518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CAPTURE + RATE EMOTION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4518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Anxiety -&gt; 90/100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721608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73989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73989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Q1-Q6 SOCRATIC QUESTIONS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73989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Evidence, alternatives, decatastrophize, effect, friend, action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009644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0279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4D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02793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4DFF"/>
                </a:solidFill>
                <a:latin typeface="Calibri"/>
              </a:defRPr>
            </a:pPr>
            <a:r>
              <a:t>SUMMARIZING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0279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Internal: Fortune Telling + Catastrophizing identified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297680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3159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31596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DELIVER_REFRAME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315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"One review doesn't define my career" -&gt; 70% belief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585716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60400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6040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RERATE ORIGINAL + EMOTION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460400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Belief: 85% -&gt; 40%  |  Anxiety: 90 -&gt; 50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4873752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8920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4892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ACTION_PLAN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8920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Homework: Ask boss for improvement check-in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5161788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18007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51800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51800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"45% belief shift! You did real work today."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5449824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46811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4681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DRDT_OUTPUT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546811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Auto-generated Thought Record worksheet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737860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7561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57561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SESSION_SUMMARY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57561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Patient states takeaways in own words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6025896"/>
            <a:ext cx="109728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604418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60441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SESSION_FEEDBACK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604418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"How did this session feel?" -&gt; Feedback collected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6313932"/>
            <a:ext cx="10972800" cy="274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" y="63322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" y="63322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SESSION_DONE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0" y="63322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Session saved. Homework queued for next session.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Safety &amp; Crisis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5350"/>
                </a:solidFill>
                <a:latin typeface="Calibri"/>
              </a:defRPr>
            </a:pPr>
            <a:r>
              <a:t>Every message is screened for crisis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BDI Item 9 (Suicidal Thoughts): Score &gt;= 2 triggers immediate crisis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Keyword-based crisis detection on every single chat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Crisis events are flagged in database for admin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Immediate crisis resources returned (hotlines, emergency contacts)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User name + email stored for follow-up by human professionals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Quality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Supervisor agent (8B model) evaluates every therapist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Checks: Collaboration, Guided Discovery, Focus, Warmth, Pacing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Flags safety concerns, fabricated techniques, state violations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Admin dashboard for monitoring all sessions and crisis flags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Academic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A.T., Rush, A.J., Shaw, B.F., &amp; Emery, G. (1979).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Cognitive Therapy of Depression. Guilford Press.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03703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A.T., Steer, R.A., &amp; Brown, G.K. (1996).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51175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Manual for the Beck Depression Inventory-II. Psychological Corporation.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J.S. (1995). Cognitive Behavior Therapy: Basics and Beyond. Guilford Press.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J.S. (2020). Cognitive Behavior Therapy: Basics and Beyond, 3rd Edition.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Guilford Press. [Thought Record Worksheet - implemented in prompts.py]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525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 (1976). Cognitive Therapy and the Emotional Disorders. Penguin.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74336"/>
            <a:ext cx="10698480" cy="128016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657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What this means: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77255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Every technique in our app maps directly to a published Beck protocol.</a:t>
            </a:r>
            <a:br/>
            <a:r>
              <a:t>This is not "inspired by CBT" - it is a structured implementation of Beck's specific methods.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CBT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B5F6"/>
                </a:solidFill>
                <a:latin typeface="Calibri"/>
              </a:defRPr>
            </a:pPr>
            <a:r>
              <a:t>Beck's CBT Protocol, Implemented as a 32-State AI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49039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BDI-II Assessment  |  6 Socratic Questions  |  Severity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Behavioral Activation  |  Schema Work  |  Thought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Crisis Detection  |  Relapse Prevention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17BF5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